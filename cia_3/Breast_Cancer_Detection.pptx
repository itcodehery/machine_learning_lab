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E35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A2E35"/>
                </a:solidFill>
                <a:latin typeface="Cambria"/>
              </a:rPr>
              <a:t>ROC Curve  (AUC = 1.00)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0.00</c:v>
                  </c:pt>
                  <c:pt idx="1">
                    <c:v>0.10</c:v>
                  </c:pt>
                  <c:pt idx="2">
                    <c:v>0.20</c:v>
                  </c:pt>
                  <c:pt idx="3">
                    <c:v>0.30</c:v>
                  </c:pt>
                  <c:pt idx="4">
                    <c:v>0.50</c:v>
                  </c:pt>
                  <c:pt idx="5">
                    <c:v>1.00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0.9</c:v>
                </c:pt>
                <c:pt idx="2">
                  <c:v>0.98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baseline</c:v>
                </c:pt>
              </c:strCache>
            </c:strRef>
          </c:tx>
          <c:spPr>
            <a:solidFill>
              <a:srgbClr val="C7D3D3"/>
            </a:solidFill>
            <a:ln w="31750" cap="flat">
              <a:solidFill>
                <a:srgbClr val="C7D3D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D3D3"/>
              </a:solidFill>
              <a:ln w="9525" cap="flat">
                <a:solidFill>
                  <a:srgbClr val="C7D3D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0.00</c:v>
                  </c:pt>
                  <c:pt idx="1">
                    <c:v>0.10</c:v>
                  </c:pt>
                  <c:pt idx="2">
                    <c:v>0.20</c:v>
                  </c:pt>
                  <c:pt idx="3">
                    <c:v>0.30</c:v>
                  </c:pt>
                  <c:pt idx="4">
                    <c:v>0.50</c:v>
                  </c:pt>
                  <c:pt idx="5">
                    <c:v>1.00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0.5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DF2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C6B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F4C4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0F4C4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L   F O R   S O C I A L   G O O 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Breast Cancer Detection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machine-learning approach for diagnostic decision support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5230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5230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Ensembled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709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126480" y="5230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Detection — Ensemble ML Project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diagnostic support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detection saves lives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02082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outcomes for breast cancer are most strongly influenced by how early a malignancy is caught.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review is slow and error-prone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43814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biopsy-derived cell features by hand is time-consuming and leaves room for human error.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480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reliable “second opinion”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85546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model that classifies cell nuclei features as benign or malignant to support pathologists—not replace them.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09560" y="1691640"/>
            <a:ext cx="3703320" cy="4206240"/>
          </a:xfrm>
          <a:prstGeom prst="roundRect">
            <a:avLst>
              <a:gd name="adj" fmla="val 2963"/>
            </a:avLst>
          </a:prstGeom>
          <a:solidFill>
            <a:srgbClr val="F3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83880" y="2331720"/>
            <a:ext cx="3154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cell-nuclei features extracted from a breast mass as benign or malignant, accurately and reproducibly.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83880" y="3977640"/>
            <a:ext cx="3154680" cy="0"/>
          </a:xfrm>
          <a:prstGeom prst="line">
            <a:avLst/>
          </a:prstGeom>
          <a:noFill/>
          <a:ln w="12700">
            <a:solidFill>
              <a:srgbClr val="D7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30 real-valued cell features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Benign (0) or Malignant (1)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Detection — Ensemble ML Project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Wisconsin (Diagnostic) Data Set — UCI Machine Learning Repository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3F7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4871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samples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3F7F7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26280" y="24871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per sample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3F7F7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81051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1040" y="248716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Benign / Malignant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families computed from digitized cell-nuclei images: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23744" y="3931920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17" name="Text 15"/>
          <p:cNvSpPr/>
          <p:nvPr/>
        </p:nvSpPr>
        <p:spPr>
          <a:xfrm>
            <a:off x="2523744" y="3931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98848" y="3931920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3931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73952" y="3931920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931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49056" y="3931920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23" name="Text 21"/>
          <p:cNvSpPr/>
          <p:nvPr/>
        </p:nvSpPr>
        <p:spPr>
          <a:xfrm>
            <a:off x="8449056" y="393192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90288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902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23744" y="4590288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27" name="Text 25"/>
          <p:cNvSpPr/>
          <p:nvPr/>
        </p:nvSpPr>
        <p:spPr>
          <a:xfrm>
            <a:off x="2523744" y="45902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98848" y="4590288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29" name="Text 27"/>
          <p:cNvSpPr/>
          <p:nvPr/>
        </p:nvSpPr>
        <p:spPr>
          <a:xfrm>
            <a:off x="4498848" y="45902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73952" y="4590288"/>
            <a:ext cx="1810512" cy="502920"/>
          </a:xfrm>
          <a:prstGeom prst="roundRect">
            <a:avLst>
              <a:gd name="adj" fmla="val 50909"/>
            </a:avLst>
          </a:prstGeom>
          <a:solidFill>
            <a:srgbClr val="0F4C4E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459028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Dim.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the notebook fetches wdbc.data directly from the UCI servers so results can be regenerated without manual downloads.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Detection — Ensemble ML Project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Ensemble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algorithm felt risky for a medical dataset — three models vote together instead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0F4C4E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148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handles variance &amp; feature interactions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0F4C4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1488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— iteratively minimizes bias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63840" y="19202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0F4C4E"/>
          </a:solidFill>
          <a:ln w="19050">
            <a:solidFill>
              <a:srgbClr val="5FB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2148840"/>
            <a:ext cx="457200" cy="457200"/>
          </a:xfrm>
          <a:prstGeom prst="ellipse">
            <a:avLst/>
          </a:prstGeom>
          <a:solidFill>
            <a:srgbClr val="5FB3B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743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0" y="3108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baseline, scaled features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3657600"/>
            <a:ext cx="0" cy="5029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52160" y="3657600"/>
            <a:ext cx="0" cy="5029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3657600"/>
            <a:ext cx="0" cy="50292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66160" y="4251960"/>
            <a:ext cx="5029200" cy="1051560"/>
          </a:xfrm>
          <a:prstGeom prst="roundRect">
            <a:avLst>
              <a:gd name="adj" fmla="val 8696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43159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Voting Classifier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6616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predicted probabilities from all three models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5303520"/>
            <a:ext cx="0" cy="45720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56616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Prediction: Benign or Malignant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Detection — Ensemble ML Project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trained ensemble in five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/>
        </p:spPr>
      </p:sp>
      <p:sp>
        <p:nvSpPr>
          <p:cNvPr id="5" name="Shape 3"/>
          <p:cNvSpPr/>
          <p:nvPr/>
        </p:nvSpPr>
        <p:spPr>
          <a:xfrm>
            <a:off x="1348740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487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Clean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non-predictive ID column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15768" y="3611880"/>
            <a:ext cx="192024" cy="0"/>
          </a:xfrm>
          <a:prstGeom prst="line">
            <a:avLst/>
          </a:prstGeom>
          <a:noFill/>
          <a:ln w="25400">
            <a:solidFill>
              <a:srgbClr val="B7CFC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7792" y="19659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/>
        </p:spPr>
      </p:sp>
      <p:sp>
        <p:nvSpPr>
          <p:cNvPr id="11" name="Shape 9"/>
          <p:cNvSpPr/>
          <p:nvPr/>
        </p:nvSpPr>
        <p:spPr>
          <a:xfrm>
            <a:off x="3707892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707892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44952" y="29718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Target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44952" y="35204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diagnosis to M→1, B→0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3611880"/>
            <a:ext cx="192024" cy="0"/>
          </a:xfrm>
          <a:prstGeom prst="line">
            <a:avLst/>
          </a:prstGeom>
          <a:noFill/>
          <a:ln w="25400">
            <a:solidFill>
              <a:srgbClr val="B7CFC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66944" y="19659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067044" y="22402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067044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04104" y="29718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Split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04104" y="35204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train_test_split(stratify=y) keeps class ratio consistent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34072" y="3611880"/>
            <a:ext cx="192024" cy="0"/>
          </a:xfrm>
          <a:prstGeom prst="line">
            <a:avLst/>
          </a:prstGeom>
          <a:noFill/>
          <a:ln w="25400">
            <a:solidFill>
              <a:srgbClr val="B7CFC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26096" y="19659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426196" y="22402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42619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763256" y="29718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Scale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63256" y="35204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fits distance-based models (Logistic Regression)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93224" y="3611880"/>
            <a:ext cx="192024" cy="0"/>
          </a:xfrm>
          <a:prstGeom prst="line">
            <a:avLst/>
          </a:prstGeom>
          <a:noFill/>
          <a:ln w="25400">
            <a:solidFill>
              <a:srgbClr val="B7CFC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85248" y="19659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F3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85348" y="2240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534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122408" y="29718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Ensemble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122408" y="35204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soft-voting classifier on scaled features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F4C4E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scale? Without it, features with larger natural ranges (e.g. area) would dominate distance-based calculations in Logistic Regression.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Detection — Ensemble ML Project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good, but recall on the malignant class is what matters most 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96.49%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held-out test samples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691640"/>
          <a:ext cx="7635240" cy="1828800"/>
        </p:xfrm>
        <a:graphic>
          <a:graphicData uri="http://schemas.openxmlformats.org/drawingml/2006/table">
            <a:tbl>
              <a:tblPr/>
              <a:tblGrid>
                <a:gridCol w="2331720"/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Malignant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11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8404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3F7F7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recall &gt; accuracy here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48056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positive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an unnecessary scare.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 patient they're fine when they aren't — the costlier error to minimize in this context.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3840480"/>
            <a:ext cx="5532120" cy="2286000"/>
          </a:xfrm>
          <a:prstGeom prst="roundRect">
            <a:avLst>
              <a:gd name="adj" fmla="val 4000"/>
            </a:avLst>
          </a:prstGeom>
          <a:solidFill>
            <a:srgbClr val="C1121F"/>
          </a:solidFill>
          <a:ln/>
        </p:spPr>
      </p:sp>
      <p:sp>
        <p:nvSpPr>
          <p:cNvPr id="13" name="Text 10"/>
          <p:cNvSpPr/>
          <p:nvPr/>
        </p:nvSpPr>
        <p:spPr>
          <a:xfrm>
            <a:off x="6080760" y="3977640"/>
            <a:ext cx="5532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6400800" y="498348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out of 42 malignant cases (90% recall)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0" y="54406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D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 low as possible — the primary optimization target for a medical screening tool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Detection — Ensemble ML Project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ROC Curve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set, n = 114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-228600" y="1828800"/>
            <a:ext cx="960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362456" cy="1362456"/>
          </a:xfrm>
          <a:prstGeom prst="rect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136245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240280" y="1828800"/>
            <a:ext cx="1362456" cy="1362456"/>
          </a:xfrm>
          <a:prstGeom prst="rect">
            <a:avLst/>
          </a:prstGeom>
          <a:solidFill>
            <a:srgbClr val="E7F0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828800"/>
            <a:ext cx="136245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-228600" y="3246120"/>
            <a:ext cx="960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362456" cy="1362456"/>
          </a:xfrm>
          <a:prstGeom prst="rect">
            <a:avLst/>
          </a:prstGeom>
          <a:solidFill>
            <a:srgbClr val="FFE3E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36245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240280" y="3246120"/>
            <a:ext cx="1362456" cy="1362456"/>
          </a:xfrm>
          <a:prstGeom prst="rect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3246120"/>
            <a:ext cx="136245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4709160"/>
            <a:ext cx="13624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35040" y="182880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56235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3F7F7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5623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malignant cases misclassified as benign; zero benign cases misclassified as malignant.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Detection — Ensemble ML Project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0F4C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project more defensible with additional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0F4C4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926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CV to prove the model's stability beyond a single train/test split.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659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0F4C4E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2402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926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54880" y="35204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to properly tune the ensemble beyond base parameters.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965960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0F4C4E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2240280"/>
            <a:ext cx="502920" cy="502920"/>
          </a:xfrm>
          <a:prstGeom prst="ellipse">
            <a:avLst/>
          </a:prstGeom>
          <a:solidFill>
            <a:srgbClr val="5FB3B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926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Interpretability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exactly which cell features drove each prediction — essential for trust in healthcare.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10515600" cy="0"/>
          </a:xfrm>
          <a:prstGeom prst="line">
            <a:avLst/>
          </a:prstGeom>
          <a:noFill/>
          <a:ln w="12700">
            <a:solidFill>
              <a:srgbClr val="0F4C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a reliable, recall-focused ensemble that could support pathologists as a second opinion.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Detection — Ensemble ML Project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2026-08-15T05:57:34Z</dcterms:created>
  <dcterms:modified xsi:type="dcterms:W3CDTF">2026-08-15T05:57:34Z</dcterms:modified>
</cp:coreProperties>
</file>